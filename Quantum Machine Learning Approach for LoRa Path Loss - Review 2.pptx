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13BA16-5FF2-4985-AC83-5C2B29696754}" v="9" dt="2026-03-31T11:21:57.7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itha Gorantla" userId="08f2694d63db72c6" providerId="LiveId" clId="{E32AD37B-EA1B-4C97-A894-3DD0A79EF55B}"/>
    <pc:docChg chg="undo custSel modSld">
      <pc:chgData name="Bhavitha Gorantla" userId="08f2694d63db72c6" providerId="LiveId" clId="{E32AD37B-EA1B-4C97-A894-3DD0A79EF55B}" dt="2026-03-31T11:26:27.314" v="94" actId="1036"/>
      <pc:docMkLst>
        <pc:docMk/>
      </pc:docMkLst>
      <pc:sldChg chg="addSp delSp modSp mod">
        <pc:chgData name="Bhavitha Gorantla" userId="08f2694d63db72c6" providerId="LiveId" clId="{E32AD37B-EA1B-4C97-A894-3DD0A79EF55B}" dt="2026-03-31T11:22:38.611" v="37"/>
        <pc:sldMkLst>
          <pc:docMk/>
          <pc:sldMk cId="2328256444" sldId="257"/>
        </pc:sldMkLst>
        <pc:spChg chg="add">
          <ac:chgData name="Bhavitha Gorantla" userId="08f2694d63db72c6" providerId="LiveId" clId="{E32AD37B-EA1B-4C97-A894-3DD0A79EF55B}" dt="2026-03-31T11:20:03.538" v="14"/>
          <ac:spMkLst>
            <pc:docMk/>
            <pc:sldMk cId="2328256444" sldId="257"/>
            <ac:spMk id="3" creationId="{6976DB9E-5D64-CBB1-919C-B5C1DB0BE325}"/>
          </ac:spMkLst>
        </pc:spChg>
        <pc:spChg chg="mod">
          <ac:chgData name="Bhavitha Gorantla" userId="08f2694d63db72c6" providerId="LiveId" clId="{E32AD37B-EA1B-4C97-A894-3DD0A79EF55B}" dt="2026-03-31T11:22:32.791" v="35" actId="2711"/>
          <ac:spMkLst>
            <pc:docMk/>
            <pc:sldMk cId="2328256444" sldId="257"/>
            <ac:spMk id="4" creationId="{26D13F43-96DA-0943-B9AC-47380E12763F}"/>
          </ac:spMkLst>
        </pc:spChg>
        <pc:spChg chg="add">
          <ac:chgData name="Bhavitha Gorantla" userId="08f2694d63db72c6" providerId="LiveId" clId="{E32AD37B-EA1B-4C97-A894-3DD0A79EF55B}" dt="2026-03-31T11:21:09.616" v="22"/>
          <ac:spMkLst>
            <pc:docMk/>
            <pc:sldMk cId="2328256444" sldId="257"/>
            <ac:spMk id="5" creationId="{F92B9D3E-8400-8524-CF74-BB296F3CCF0F}"/>
          </ac:spMkLst>
        </pc:spChg>
        <pc:spChg chg="add del mod">
          <ac:chgData name="Bhavitha Gorantla" userId="08f2694d63db72c6" providerId="LiveId" clId="{E32AD37B-EA1B-4C97-A894-3DD0A79EF55B}" dt="2026-03-31T11:22:38.611" v="37"/>
          <ac:spMkLst>
            <pc:docMk/>
            <pc:sldMk cId="2328256444" sldId="257"/>
            <ac:spMk id="6" creationId="{99DD42F9-7C33-C69B-A6E1-157300BB5F96}"/>
          </ac:spMkLst>
        </pc:spChg>
      </pc:sldChg>
      <pc:sldChg chg="modSp mod">
        <pc:chgData name="Bhavitha Gorantla" userId="08f2694d63db72c6" providerId="LiveId" clId="{E32AD37B-EA1B-4C97-A894-3DD0A79EF55B}" dt="2026-03-31T11:12:06.536" v="5" actId="20577"/>
        <pc:sldMkLst>
          <pc:docMk/>
          <pc:sldMk cId="324160769" sldId="258"/>
        </pc:sldMkLst>
        <pc:spChg chg="mod">
          <ac:chgData name="Bhavitha Gorantla" userId="08f2694d63db72c6" providerId="LiveId" clId="{E32AD37B-EA1B-4C97-A894-3DD0A79EF55B}" dt="2026-03-31T11:12:06.536" v="5" actId="20577"/>
          <ac:spMkLst>
            <pc:docMk/>
            <pc:sldMk cId="324160769" sldId="258"/>
            <ac:spMk id="4" creationId="{0837A470-3522-2712-CE54-8CE52CA6EE68}"/>
          </ac:spMkLst>
        </pc:spChg>
      </pc:sldChg>
      <pc:sldChg chg="modSp mod">
        <pc:chgData name="Bhavitha Gorantla" userId="08f2694d63db72c6" providerId="LiveId" clId="{E32AD37B-EA1B-4C97-A894-3DD0A79EF55B}" dt="2026-03-31T11:24:42.527" v="92" actId="20577"/>
        <pc:sldMkLst>
          <pc:docMk/>
          <pc:sldMk cId="1060278166" sldId="261"/>
        </pc:sldMkLst>
        <pc:spChg chg="mod">
          <ac:chgData name="Bhavitha Gorantla" userId="08f2694d63db72c6" providerId="LiveId" clId="{E32AD37B-EA1B-4C97-A894-3DD0A79EF55B}" dt="2026-03-31T11:24:42.527" v="92" actId="20577"/>
          <ac:spMkLst>
            <pc:docMk/>
            <pc:sldMk cId="1060278166" sldId="261"/>
            <ac:spMk id="3" creationId="{67A7396E-21CC-28E9-64C7-DF1073847AAE}"/>
          </ac:spMkLst>
        </pc:spChg>
        <pc:picChg chg="mod">
          <ac:chgData name="Bhavitha Gorantla" userId="08f2694d63db72c6" providerId="LiveId" clId="{E32AD37B-EA1B-4C97-A894-3DD0A79EF55B}" dt="2026-03-31T11:24:34.004" v="87" actId="1076"/>
          <ac:picMkLst>
            <pc:docMk/>
            <pc:sldMk cId="1060278166" sldId="261"/>
            <ac:picMk id="6" creationId="{E8473B00-9E9D-40FC-2D80-37759F2B2F83}"/>
          </ac:picMkLst>
        </pc:picChg>
      </pc:sldChg>
      <pc:sldChg chg="modSp mod">
        <pc:chgData name="Bhavitha Gorantla" userId="08f2694d63db72c6" providerId="LiveId" clId="{E32AD37B-EA1B-4C97-A894-3DD0A79EF55B}" dt="2026-03-31T11:26:27.314" v="94" actId="1036"/>
        <pc:sldMkLst>
          <pc:docMk/>
          <pc:sldMk cId="483240316" sldId="263"/>
        </pc:sldMkLst>
        <pc:picChg chg="mod">
          <ac:chgData name="Bhavitha Gorantla" userId="08f2694d63db72c6" providerId="LiveId" clId="{E32AD37B-EA1B-4C97-A894-3DD0A79EF55B}" dt="2026-03-31T11:26:27.314" v="94" actId="1036"/>
          <ac:picMkLst>
            <pc:docMk/>
            <pc:sldMk cId="483240316" sldId="263"/>
            <ac:picMk id="6" creationId="{CDBDFFD3-1C9C-D26A-FE2B-C3DFA8C23C24}"/>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3/31/2026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3/31/2026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extLst>
              <a:ext uri="{BEBA8EAE-BF5A-486C-A8C5-ECC9F3942E4B}">
                <a14:imgProps xmlns:a14="http://schemas.microsoft.com/office/drawing/2010/main">
                  <a14:imgLayer r:embed="rId3">
                    <a14:imgEffect>
                      <a14:brightnessContrast bright="-17000" contrast="40000"/>
                    </a14:imgEffect>
                  </a14:imgLayer>
                </a14:imgProps>
              </a:ext>
            </a:extLst>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49FE-8DDB-6EA1-3EF4-6D3ED4273B16}"/>
              </a:ext>
            </a:extLst>
          </p:cNvPr>
          <p:cNvSpPr>
            <a:spLocks noGrp="1"/>
          </p:cNvSpPr>
          <p:nvPr>
            <p:ph type="ctrTitle"/>
          </p:nvPr>
        </p:nvSpPr>
        <p:spPr/>
        <p:txBody>
          <a:bodyPr/>
          <a:lstStyle/>
          <a:p>
            <a:r>
              <a:rPr lang="en-US" dirty="0"/>
              <a:t>Quantum Machine Learning Approach for LoRa Path Loss Prediction</a:t>
            </a:r>
            <a:endParaRPr lang="en-IN" dirty="0"/>
          </a:p>
        </p:txBody>
      </p:sp>
      <p:sp>
        <p:nvSpPr>
          <p:cNvPr id="3" name="Subtitle 2">
            <a:extLst>
              <a:ext uri="{FF2B5EF4-FFF2-40B4-BE49-F238E27FC236}">
                <a16:creationId xmlns:a16="http://schemas.microsoft.com/office/drawing/2014/main" id="{B03A9B2B-F256-FD2D-E1A2-D1BE403F6909}"/>
              </a:ext>
            </a:extLst>
          </p:cNvPr>
          <p:cNvSpPr>
            <a:spLocks noGrp="1"/>
          </p:cNvSpPr>
          <p:nvPr>
            <p:ph type="subTitle" idx="1"/>
          </p:nvPr>
        </p:nvSpPr>
        <p:spPr/>
        <p:txBody>
          <a:bodyPr/>
          <a:lstStyle/>
          <a:p>
            <a:r>
              <a:rPr lang="en-IN" dirty="0"/>
              <a:t>Review 2: model Implementation &amp; results</a:t>
            </a:r>
          </a:p>
        </p:txBody>
      </p:sp>
      <p:sp>
        <p:nvSpPr>
          <p:cNvPr id="4" name="TextBox 3">
            <a:extLst>
              <a:ext uri="{FF2B5EF4-FFF2-40B4-BE49-F238E27FC236}">
                <a16:creationId xmlns:a16="http://schemas.microsoft.com/office/drawing/2014/main" id="{5715FFDB-2418-DCF1-333D-059279BE7AB3}"/>
              </a:ext>
            </a:extLst>
          </p:cNvPr>
          <p:cNvSpPr txBox="1"/>
          <p:nvPr/>
        </p:nvSpPr>
        <p:spPr>
          <a:xfrm>
            <a:off x="6976872" y="5056632"/>
            <a:ext cx="5084064" cy="1200329"/>
          </a:xfrm>
          <a:prstGeom prst="rect">
            <a:avLst/>
          </a:prstGeom>
          <a:noFill/>
        </p:spPr>
        <p:txBody>
          <a:bodyPr wrap="square" rtlCol="0">
            <a:spAutoFit/>
          </a:bodyPr>
          <a:lstStyle/>
          <a:p>
            <a:r>
              <a:rPr lang="en-IN" dirty="0"/>
              <a:t>GORANTLA BHAVITHA – 22BCE20496</a:t>
            </a:r>
          </a:p>
          <a:p>
            <a:r>
              <a:rPr lang="en-IN" dirty="0"/>
              <a:t>GARAGA KALYAN RAM – 22BCE8814</a:t>
            </a:r>
          </a:p>
          <a:p>
            <a:endParaRPr lang="en-IN" dirty="0"/>
          </a:p>
          <a:p>
            <a:r>
              <a:rPr lang="en-IN" dirty="0"/>
              <a:t>GUIDE: DR. PRASHANTH RAGAM</a:t>
            </a:r>
          </a:p>
        </p:txBody>
      </p:sp>
    </p:spTree>
    <p:extLst>
      <p:ext uri="{BB962C8B-B14F-4D97-AF65-F5344CB8AC3E}">
        <p14:creationId xmlns:p14="http://schemas.microsoft.com/office/powerpoint/2010/main" val="3751045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85E32-DAB8-B98A-2C97-D7753985149E}"/>
              </a:ext>
            </a:extLst>
          </p:cNvPr>
          <p:cNvSpPr>
            <a:spLocks noGrp="1"/>
          </p:cNvSpPr>
          <p:nvPr>
            <p:ph type="title"/>
          </p:nvPr>
        </p:nvSpPr>
        <p:spPr>
          <a:xfrm>
            <a:off x="1141413" y="353342"/>
            <a:ext cx="9905998" cy="1478570"/>
          </a:xfrm>
        </p:spPr>
        <p:txBody>
          <a:bodyPr/>
          <a:lstStyle/>
          <a:p>
            <a:r>
              <a:rPr lang="en-IN" dirty="0">
                <a:latin typeface="Arial" panose="020B0604020202020204" pitchFamily="34" charset="0"/>
                <a:cs typeface="Arial" panose="020B0604020202020204" pitchFamily="34" charset="0"/>
              </a:rPr>
              <a:t>Objectives</a:t>
            </a:r>
          </a:p>
        </p:txBody>
      </p:sp>
      <p:sp>
        <p:nvSpPr>
          <p:cNvPr id="4" name="Rectangle 1">
            <a:extLst>
              <a:ext uri="{FF2B5EF4-FFF2-40B4-BE49-F238E27FC236}">
                <a16:creationId xmlns:a16="http://schemas.microsoft.com/office/drawing/2014/main" id="{26D13F43-96DA-0943-B9AC-47380E12763F}"/>
              </a:ext>
            </a:extLst>
          </p:cNvPr>
          <p:cNvSpPr>
            <a:spLocks noGrp="1" noChangeArrowheads="1"/>
          </p:cNvSpPr>
          <p:nvPr>
            <p:ph idx="1"/>
          </p:nvPr>
        </p:nvSpPr>
        <p:spPr bwMode="auto">
          <a:xfrm>
            <a:off x="1141413" y="1498187"/>
            <a:ext cx="10635720" cy="5127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Problem Statement:</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indent="0">
              <a:buNone/>
            </a:pPr>
            <a:r>
              <a:rPr lang="en-US" sz="1800" b="1" dirty="0">
                <a:latin typeface="Arial" panose="020B0604020202020204" pitchFamily="34" charset="0"/>
                <a:cs typeface="Arial" panose="020B0604020202020204" pitchFamily="34" charset="0"/>
              </a:rPr>
              <a:t>The Connectivity Gap:</a:t>
            </a:r>
            <a:r>
              <a:rPr lang="en-US" sz="1800" dirty="0">
                <a:latin typeface="Arial" panose="020B0604020202020204" pitchFamily="34" charset="0"/>
                <a:cs typeface="Arial" panose="020B0604020202020204" pitchFamily="34" charset="0"/>
              </a:rPr>
              <a:t> In remote or challenging real-world environments, standard Wi-Fi and Cellular infrastructure are often absent or unstable, making LoRa the critical alternative for IoT communication.</a:t>
            </a:r>
          </a:p>
          <a:p>
            <a:pPr marL="0" indent="0">
              <a:buNone/>
            </a:pPr>
            <a:r>
              <a:rPr lang="en-US" altLang="en-US" sz="1800" b="1" dirty="0">
                <a:latin typeface="Arial" panose="020B0604020202020204" pitchFamily="34" charset="0"/>
              </a:rPr>
              <a:t>The "Weather Wall":</a:t>
            </a:r>
            <a:r>
              <a:rPr lang="en-US" altLang="en-US" sz="1800" dirty="0">
                <a:latin typeface="Arial" panose="020B0604020202020204" pitchFamily="34" charset="0"/>
              </a:rPr>
              <a:t> Real-world LoRa signal strength is highly vulnerable to complex atmospheric shifts. Variables like Temperature, Humidity, and Distance do not act in isolation; they constantly interact to degrade the signal in highly unpredictable ways.</a:t>
            </a:r>
          </a:p>
          <a:p>
            <a:pPr marL="0" indent="0">
              <a:buNone/>
            </a:pPr>
            <a:r>
              <a:rPr lang="en-US" sz="1800" b="1" dirty="0">
                <a:latin typeface="Arial" panose="020B0604020202020204" pitchFamily="34" charset="0"/>
                <a:cs typeface="Arial" panose="020B0604020202020204" pitchFamily="34" charset="0"/>
              </a:rPr>
              <a:t>The Classical Bottleneck:</a:t>
            </a:r>
            <a:r>
              <a:rPr lang="en-US" sz="1800" dirty="0">
                <a:latin typeface="Arial" panose="020B0604020202020204" pitchFamily="34" charset="0"/>
                <a:cs typeface="Arial" panose="020B0604020202020204" pitchFamily="34" charset="0"/>
              </a:rPr>
              <a:t> Traditional path loss equations and standard AI models struggle to accurately map these overlapping environmental interactions without massive datasets. They cannot reliably predict sudden signal drops, leading to critical data loss in emergency monitoring scenarios.</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indent="0">
              <a:buNone/>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indent="0">
              <a:buNone/>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Project Goal:</a:t>
            </a:r>
          </a:p>
          <a:p>
            <a:pPr marL="0" indent="0">
              <a:buNone/>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develop a Quantum Machine Learning (QML) regression model             </a:t>
            </a:r>
          </a:p>
          <a:p>
            <a:pPr marL="0" indent="0" eaLnBrk="0" fontAlgn="base" hangingPunct="0">
              <a:lnSpc>
                <a:spcPct val="100000"/>
              </a:lnSpc>
              <a:spcBef>
                <a:spcPct val="0"/>
              </a:spcBef>
              <a:spcAft>
                <a:spcPct val="0"/>
              </a:spcAft>
              <a:buSzTx/>
              <a:buNone/>
            </a:pPr>
            <a:r>
              <a:rPr lang="en-US" altLang="en-US" sz="1800" dirty="0">
                <a:latin typeface="Arial" panose="020B0604020202020204" pitchFamily="34" charset="0"/>
                <a:cs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that accurately predicts LoRa signal degradation.</a:t>
            </a:r>
          </a:p>
        </p:txBody>
      </p:sp>
    </p:spTree>
    <p:extLst>
      <p:ext uri="{BB962C8B-B14F-4D97-AF65-F5344CB8AC3E}">
        <p14:creationId xmlns:p14="http://schemas.microsoft.com/office/powerpoint/2010/main" val="2328256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F0488-B9C6-3EDE-BC1E-441BF891F00A}"/>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Knowledge Gained </a:t>
            </a:r>
          </a:p>
        </p:txBody>
      </p:sp>
      <p:sp>
        <p:nvSpPr>
          <p:cNvPr id="4" name="Rectangle 1">
            <a:extLst>
              <a:ext uri="{FF2B5EF4-FFF2-40B4-BE49-F238E27FC236}">
                <a16:creationId xmlns:a16="http://schemas.microsoft.com/office/drawing/2014/main" id="{0837A470-3522-2712-CE54-8CE52CA6EE68}"/>
              </a:ext>
            </a:extLst>
          </p:cNvPr>
          <p:cNvSpPr>
            <a:spLocks noGrp="1" noChangeArrowheads="1"/>
          </p:cNvSpPr>
          <p:nvPr>
            <p:ph idx="1"/>
          </p:nvPr>
        </p:nvSpPr>
        <p:spPr bwMode="auto">
          <a:xfrm>
            <a:off x="1141413" y="1586794"/>
            <a:ext cx="9511348"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LoRa Communication Physics:</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Studied the impact of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Spreading Factor (SF)</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Bandwidth (BW)</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on signal range and decoding.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Understood the relationship between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RSSI</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(Signal Strength) and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SNR</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(Signal Quality) in noise-heavy environments.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Path Loss Modeling:</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Analyzed the Free Space Path Loss (FSPL) equation: PL =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P_t</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P_r</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G_{total}.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Identified key variables: Distance, Frequency, and Environmental attenuation.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Hardware Control:</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Mastered </a:t>
            </a:r>
            <a:r>
              <a:rPr kumimoji="0" lang="en-US" altLang="en-US" sz="20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MicroPython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Pycom</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Implemented raw LoRa socket programming (Layer 2) for direct packet inspection.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160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F5D72-370D-C406-5822-112BECC3CF43}"/>
              </a:ext>
            </a:extLst>
          </p:cNvPr>
          <p:cNvSpPr>
            <a:spLocks noGrp="1"/>
          </p:cNvSpPr>
          <p:nvPr>
            <p:ph type="title"/>
          </p:nvPr>
        </p:nvSpPr>
        <p:spPr>
          <a:xfrm>
            <a:off x="976820" y="618518"/>
            <a:ext cx="9905998" cy="1478570"/>
          </a:xfrm>
        </p:spPr>
        <p:txBody>
          <a:bodyPr/>
          <a:lstStyle/>
          <a:p>
            <a:r>
              <a:rPr lang="en-IN" dirty="0"/>
              <a:t>System Architecture (Hardware Setup)</a:t>
            </a:r>
          </a:p>
        </p:txBody>
      </p:sp>
      <p:sp>
        <p:nvSpPr>
          <p:cNvPr id="4" name="Rectangle 1">
            <a:extLst>
              <a:ext uri="{FF2B5EF4-FFF2-40B4-BE49-F238E27FC236}">
                <a16:creationId xmlns:a16="http://schemas.microsoft.com/office/drawing/2014/main" id="{F15BA43E-0735-3690-DD5B-3B9FF3165521}"/>
              </a:ext>
            </a:extLst>
          </p:cNvPr>
          <p:cNvSpPr>
            <a:spLocks noGrp="1" noChangeArrowheads="1"/>
          </p:cNvSpPr>
          <p:nvPr>
            <p:ph idx="1"/>
          </p:nvPr>
        </p:nvSpPr>
        <p:spPr bwMode="auto">
          <a:xfrm>
            <a:off x="976820" y="1946693"/>
            <a:ext cx="7988110" cy="404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Hardware Stack:</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Transmitter (Node):</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Pycom</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FiPy</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running in roaming mode.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Receiver (Gateway):</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Pycom</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FiPy</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acting as a Base Station connected to a logging terminal.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Communication Protocol:</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Frequency:</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868 MHz (EU868 / IN865 Region).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Mode:</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Raw LoRa (P2P) for granular control over packet stats.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Antenna Gain:</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8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dBi</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Total (G_{</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tx</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G_{</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rx</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Operational Logic:</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Transmitter broadcasts packets every 3 seconds.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Receiver captures packet, extracts RSSI/SNR, and computes Path Loss instantly.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12F39A9-783D-A328-3E92-B559C9DD0B82}"/>
              </a:ext>
            </a:extLst>
          </p:cNvPr>
          <p:cNvPicPr>
            <a:picLocks noChangeAspect="1"/>
          </p:cNvPicPr>
          <p:nvPr/>
        </p:nvPicPr>
        <p:blipFill>
          <a:blip r:embed="rId2"/>
          <a:stretch>
            <a:fillRect/>
          </a:stretch>
        </p:blipFill>
        <p:spPr>
          <a:xfrm>
            <a:off x="8964930" y="1792805"/>
            <a:ext cx="2934462" cy="39126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85814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D8B0-FAF1-3B4D-BB2A-2E98E5171C5D}"/>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Smart Data Collection Framework</a:t>
            </a:r>
          </a:p>
        </p:txBody>
      </p:sp>
      <p:sp>
        <p:nvSpPr>
          <p:cNvPr id="4" name="Rectangle 1">
            <a:extLst>
              <a:ext uri="{FF2B5EF4-FFF2-40B4-BE49-F238E27FC236}">
                <a16:creationId xmlns:a16="http://schemas.microsoft.com/office/drawing/2014/main" id="{693AAB55-7223-2DF1-E6BB-7FC547ADD318}"/>
              </a:ext>
            </a:extLst>
          </p:cNvPr>
          <p:cNvSpPr>
            <a:spLocks noGrp="1" noChangeArrowheads="1"/>
          </p:cNvSpPr>
          <p:nvPr>
            <p:ph idx="1"/>
          </p:nvPr>
        </p:nvSpPr>
        <p:spPr bwMode="auto">
          <a:xfrm>
            <a:off x="1004253" y="1763319"/>
            <a:ext cx="1040746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Automated Environmental Tagging: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Integrated </a:t>
            </a:r>
            <a:r>
              <a:rPr kumimoji="0" lang="en-US" altLang="en-US" sz="2000" b="1" i="0" u="none" strike="noStrike" cap="none" normalizeH="0" baseline="0" dirty="0">
                <a:ln>
                  <a:noFill/>
                </a:ln>
                <a:solidFill>
                  <a:schemeClr val="tx1"/>
                </a:solidFill>
                <a:effectLst/>
                <a:latin typeface="Arial" panose="020B0604020202020204" pitchFamily="34" charset="0"/>
              </a:rPr>
              <a:t>Wi-Fi + Open-</a:t>
            </a:r>
            <a:r>
              <a:rPr kumimoji="0" lang="en-US" altLang="en-US" sz="2000" b="1" i="0" u="none" strike="noStrike" cap="none" normalizeH="0" baseline="0" dirty="0" err="1">
                <a:ln>
                  <a:noFill/>
                </a:ln>
                <a:solidFill>
                  <a:schemeClr val="tx1"/>
                </a:solidFill>
                <a:effectLst/>
                <a:latin typeface="Arial" panose="020B0604020202020204" pitchFamily="34" charset="0"/>
              </a:rPr>
              <a:t>Meteo</a:t>
            </a:r>
            <a:r>
              <a:rPr kumimoji="0" lang="en-US" altLang="en-US" sz="2000" b="1" i="0" u="none" strike="noStrike" cap="none" normalizeH="0" baseline="0" dirty="0">
                <a:ln>
                  <a:noFill/>
                </a:ln>
                <a:solidFill>
                  <a:schemeClr val="tx1"/>
                </a:solidFill>
                <a:effectLst/>
                <a:latin typeface="Arial" panose="020B0604020202020204" pitchFamily="34" charset="0"/>
              </a:rPr>
              <a:t> API</a:t>
            </a:r>
            <a:r>
              <a:rPr kumimoji="0" lang="en-US" altLang="en-US" sz="2000" b="0" i="0" u="none" strike="noStrike" cap="none" normalizeH="0" baseline="0" dirty="0">
                <a:ln>
                  <a:noFill/>
                </a:ln>
                <a:solidFill>
                  <a:schemeClr val="tx1"/>
                </a:solidFill>
                <a:effectLst/>
                <a:latin typeface="Arial" panose="020B0604020202020204" pitchFamily="34" charset="0"/>
              </a:rPr>
              <a:t> into the Receiver firmware.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Workflow:</a:t>
            </a:r>
            <a:r>
              <a:rPr kumimoji="0" lang="en-US" altLang="en-US" sz="2000" b="0" i="0" u="none" strike="noStrike" cap="none" normalizeH="0" baseline="0" dirty="0">
                <a:ln>
                  <a:noFill/>
                </a:ln>
                <a:solidFill>
                  <a:schemeClr val="tx1"/>
                </a:solidFill>
                <a:effectLst/>
                <a:latin typeface="Arial" panose="020B0604020202020204" pitchFamily="34" charset="0"/>
              </a:rPr>
              <a:t> On startup, the system automatically fetches live local weather (Temp, Humidity, Wind Speed)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before initiating LoRa listeners.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Benefit:</a:t>
            </a:r>
            <a:r>
              <a:rPr kumimoji="0" lang="en-US" altLang="en-US" sz="2000" b="0" i="0" u="none" strike="noStrike" cap="none" normalizeH="0" baseline="0" dirty="0">
                <a:ln>
                  <a:noFill/>
                </a:ln>
                <a:solidFill>
                  <a:schemeClr val="tx1"/>
                </a:solidFill>
                <a:effectLst/>
                <a:latin typeface="Arial" panose="020B0604020202020204" pitchFamily="34" charset="0"/>
              </a:rPr>
              <a:t> Removes manual error and ensures every data point is tagged with accurate environmental context.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Distance Tagging Strategy: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Implemented a "Reset-Marker" protocol to tag ground-truth distance in log files without expensive GPS hardware.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1674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9282C-D8AD-650E-52DB-8D99A2A2FAF8}"/>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Dataset Structure</a:t>
            </a:r>
          </a:p>
        </p:txBody>
      </p:sp>
      <p:sp>
        <p:nvSpPr>
          <p:cNvPr id="3" name="Content Placeholder 2">
            <a:extLst>
              <a:ext uri="{FF2B5EF4-FFF2-40B4-BE49-F238E27FC236}">
                <a16:creationId xmlns:a16="http://schemas.microsoft.com/office/drawing/2014/main" id="{67A7396E-21CC-28E9-64C7-DF1073847AAE}"/>
              </a:ext>
            </a:extLst>
          </p:cNvPr>
          <p:cNvSpPr>
            <a:spLocks noGrp="1"/>
          </p:cNvSpPr>
          <p:nvPr>
            <p:ph idx="1"/>
          </p:nvPr>
        </p:nvSpPr>
        <p:spPr>
          <a:xfrm>
            <a:off x="1141412" y="1908109"/>
            <a:ext cx="9905999" cy="3541714"/>
          </a:xfrm>
        </p:spPr>
        <p:txBody>
          <a:bodyPr/>
          <a:lstStyle/>
          <a:p>
            <a:r>
              <a:rPr lang="en-US" dirty="0"/>
              <a:t>We are building a custom dataset with </a:t>
            </a:r>
            <a:r>
              <a:rPr lang="en-US" b="1" dirty="0"/>
              <a:t>4 Main Features</a:t>
            </a:r>
            <a:r>
              <a:rPr lang="en-US" dirty="0"/>
              <a:t> for the QML Model:</a:t>
            </a:r>
          </a:p>
          <a:p>
            <a:r>
              <a:rPr lang="en-IN" dirty="0"/>
              <a:t>Distance, Temperature, Humidity, Spread Factor</a:t>
            </a:r>
          </a:p>
        </p:txBody>
      </p:sp>
      <p:pic>
        <p:nvPicPr>
          <p:cNvPr id="6" name="Picture 5">
            <a:extLst>
              <a:ext uri="{FF2B5EF4-FFF2-40B4-BE49-F238E27FC236}">
                <a16:creationId xmlns:a16="http://schemas.microsoft.com/office/drawing/2014/main" id="{E8473B00-9E9D-40FC-2D80-37759F2B2F83}"/>
              </a:ext>
            </a:extLst>
          </p:cNvPr>
          <p:cNvPicPr>
            <a:picLocks noChangeAspect="1"/>
          </p:cNvPicPr>
          <p:nvPr/>
        </p:nvPicPr>
        <p:blipFill>
          <a:blip r:embed="rId2"/>
          <a:stretch>
            <a:fillRect/>
          </a:stretch>
        </p:blipFill>
        <p:spPr>
          <a:xfrm>
            <a:off x="1289832" y="3268890"/>
            <a:ext cx="6908001" cy="26381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060278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3E36-D27D-4115-CC2B-4D2F2E8791A0}"/>
              </a:ext>
            </a:extLst>
          </p:cNvPr>
          <p:cNvSpPr>
            <a:spLocks noGrp="1"/>
          </p:cNvSpPr>
          <p:nvPr>
            <p:ph type="title"/>
          </p:nvPr>
        </p:nvSpPr>
        <p:spPr/>
        <p:txBody>
          <a:bodyPr/>
          <a:lstStyle/>
          <a:p>
            <a:r>
              <a:rPr lang="en-IN" dirty="0"/>
              <a:t>FINALIZED DATASET STRUCTURE</a:t>
            </a:r>
          </a:p>
        </p:txBody>
      </p:sp>
      <p:sp>
        <p:nvSpPr>
          <p:cNvPr id="3" name="Content Placeholder 2">
            <a:extLst>
              <a:ext uri="{FF2B5EF4-FFF2-40B4-BE49-F238E27FC236}">
                <a16:creationId xmlns:a16="http://schemas.microsoft.com/office/drawing/2014/main" id="{62390164-35F1-5091-9E21-99C580305931}"/>
              </a:ext>
            </a:extLst>
          </p:cNvPr>
          <p:cNvSpPr>
            <a:spLocks noGrp="1"/>
          </p:cNvSpPr>
          <p:nvPr>
            <p:ph idx="1"/>
          </p:nvPr>
        </p:nvSpPr>
        <p:spPr>
          <a:xfrm>
            <a:off x="1031345" y="1658143"/>
            <a:ext cx="9905999" cy="3541714"/>
          </a:xfrm>
        </p:spPr>
        <p:txBody>
          <a:bodyPr>
            <a:noAutofit/>
          </a:bodyPr>
          <a:lstStyle/>
          <a:p>
            <a:r>
              <a:rPr lang="en-IN" sz="1800" b="1" dirty="0"/>
              <a:t>Initial Collection:</a:t>
            </a:r>
            <a:r>
              <a:rPr lang="en-IN" sz="1800" dirty="0"/>
              <a:t> Gathered a custom dataset featuring 11 distinct environmental and transmission variables.</a:t>
            </a:r>
          </a:p>
          <a:p>
            <a:r>
              <a:rPr lang="en-IN" sz="1800" b="1" dirty="0"/>
              <a:t>Optimized Quantum Model Inputs (Features - X):</a:t>
            </a:r>
            <a:r>
              <a:rPr lang="en-IN" sz="1800" dirty="0"/>
              <a:t> After feature selection, the final model utilizes 4 primary variables:</a:t>
            </a:r>
          </a:p>
          <a:p>
            <a:pPr lvl="1"/>
            <a:r>
              <a:rPr lang="en-IN" sz="1800" dirty="0"/>
              <a:t>Distance</a:t>
            </a:r>
          </a:p>
          <a:p>
            <a:pPr lvl="1"/>
            <a:r>
              <a:rPr lang="en-IN" sz="1800" dirty="0"/>
              <a:t>Temperature</a:t>
            </a:r>
          </a:p>
          <a:p>
            <a:pPr lvl="1"/>
            <a:r>
              <a:rPr lang="en-IN" sz="1800" dirty="0"/>
              <a:t>Humidity</a:t>
            </a:r>
          </a:p>
          <a:p>
            <a:pPr lvl="1"/>
            <a:r>
              <a:rPr lang="en-IN" sz="1800" dirty="0"/>
              <a:t>Spreading Factor (SF)</a:t>
            </a:r>
          </a:p>
          <a:p>
            <a:r>
              <a:rPr lang="en-IN" sz="1800" b="1" dirty="0"/>
              <a:t>Target Variable (y):</a:t>
            </a:r>
            <a:r>
              <a:rPr lang="en-IN" sz="1800" dirty="0"/>
              <a:t> Path Loss (Real dBm)</a:t>
            </a:r>
          </a:p>
          <a:p>
            <a:r>
              <a:rPr lang="en-IN" sz="1800" b="1" dirty="0"/>
              <a:t>Data Splitting Strategy:</a:t>
            </a:r>
            <a:r>
              <a:rPr lang="en-IN" sz="1800" dirty="0"/>
              <a:t> </a:t>
            </a:r>
          </a:p>
          <a:p>
            <a:pPr lvl="1"/>
            <a:r>
              <a:rPr lang="en-IN" sz="1800" dirty="0"/>
              <a:t>70% Training Data</a:t>
            </a:r>
          </a:p>
          <a:p>
            <a:pPr lvl="1"/>
            <a:r>
              <a:rPr lang="en-IN" sz="1800" dirty="0"/>
              <a:t>30% Testing Data (Kept completely hidden from the model to test true real-world accuracy).</a:t>
            </a:r>
          </a:p>
          <a:p>
            <a:endParaRPr lang="en-IN" sz="1800" dirty="0"/>
          </a:p>
        </p:txBody>
      </p:sp>
    </p:spTree>
    <p:extLst>
      <p:ext uri="{BB962C8B-B14F-4D97-AF65-F5344CB8AC3E}">
        <p14:creationId xmlns:p14="http://schemas.microsoft.com/office/powerpoint/2010/main" val="3243379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42FA4-1F7F-6321-0AB3-50967FF63DD5}"/>
              </a:ext>
            </a:extLst>
          </p:cNvPr>
          <p:cNvSpPr>
            <a:spLocks noGrp="1"/>
          </p:cNvSpPr>
          <p:nvPr>
            <p:ph type="title"/>
          </p:nvPr>
        </p:nvSpPr>
        <p:spPr>
          <a:xfrm>
            <a:off x="766508" y="618518"/>
            <a:ext cx="9905998" cy="1478570"/>
          </a:xfrm>
        </p:spPr>
        <p:txBody>
          <a:bodyPr/>
          <a:lstStyle/>
          <a:p>
            <a:r>
              <a:rPr lang="en-US" dirty="0"/>
              <a:t>System Validation (Proof of Concept)</a:t>
            </a:r>
            <a:endParaRPr lang="en-IN" dirty="0"/>
          </a:p>
        </p:txBody>
      </p:sp>
      <p:sp>
        <p:nvSpPr>
          <p:cNvPr id="4" name="Rectangle 1">
            <a:extLst>
              <a:ext uri="{FF2B5EF4-FFF2-40B4-BE49-F238E27FC236}">
                <a16:creationId xmlns:a16="http://schemas.microsoft.com/office/drawing/2014/main" id="{DEE90939-C83F-65F3-172A-5C13537B806A}"/>
              </a:ext>
            </a:extLst>
          </p:cNvPr>
          <p:cNvSpPr>
            <a:spLocks noGrp="1" noChangeArrowheads="1"/>
          </p:cNvSpPr>
          <p:nvPr>
            <p:ph idx="1"/>
          </p:nvPr>
        </p:nvSpPr>
        <p:spPr bwMode="auto">
          <a:xfrm>
            <a:off x="766508" y="1934056"/>
            <a:ext cx="1154437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Successful Hardware Integration: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Transmitter and Receiver successfully paired in P2P LoRa mode.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Verified real-time packet reception with RSSI &amp; SNR extraction.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Firmware Validation: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Auto-Calibration:</a:t>
            </a:r>
            <a:r>
              <a:rPr kumimoji="0" lang="en-US" altLang="en-US" sz="2000" b="0" i="0" u="none" strike="noStrike" cap="none" normalizeH="0" baseline="0" dirty="0">
                <a:ln>
                  <a:noFill/>
                </a:ln>
                <a:solidFill>
                  <a:schemeClr val="tx1"/>
                </a:solidFill>
                <a:effectLst/>
                <a:latin typeface="Arial" panose="020B0604020202020204" pitchFamily="34" charset="0"/>
              </a:rPr>
              <a:t> System successfully resets and identifies "Start Points" using the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Reset-Marker protocol.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Live Environment Tagging:</a:t>
            </a:r>
            <a:r>
              <a:rPr kumimoji="0" lang="en-US" altLang="en-US" sz="2000" b="0" i="0" u="none" strike="noStrike" cap="none" normalizeH="0" baseline="0" dirty="0">
                <a:ln>
                  <a:noFill/>
                </a:ln>
                <a:solidFill>
                  <a:schemeClr val="tx1"/>
                </a:solidFill>
                <a:effectLst/>
                <a:latin typeface="Arial" panose="020B0604020202020204" pitchFamily="34" charset="0"/>
              </a:rPr>
              <a:t> Wi-Fi module successfully fetches and logs live Temperature/Humidity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before every session.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Pilot Test (Lab Scale):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Conducted short-range stability tests (0-5m).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0806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DBDFFD3-1C9C-D26A-FE2B-C3DFA8C23C24}"/>
              </a:ext>
            </a:extLst>
          </p:cNvPr>
          <p:cNvPicPr>
            <a:picLocks noGrp="1" noChangeAspect="1"/>
          </p:cNvPicPr>
          <p:nvPr>
            <p:ph idx="1"/>
          </p:nvPr>
        </p:nvPicPr>
        <p:blipFill>
          <a:blip r:embed="rId2"/>
          <a:stretch>
            <a:fillRect/>
          </a:stretch>
        </p:blipFill>
        <p:spPr>
          <a:xfrm>
            <a:off x="1141413" y="726892"/>
            <a:ext cx="8832199" cy="48704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407F0799-CDD7-7706-0D5D-D01B57E1132B}"/>
              </a:ext>
            </a:extLst>
          </p:cNvPr>
          <p:cNvSpPr txBox="1"/>
          <p:nvPr/>
        </p:nvSpPr>
        <p:spPr>
          <a:xfrm>
            <a:off x="1059116" y="5778710"/>
            <a:ext cx="8832199" cy="369332"/>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latin typeface="Arial" panose="020B0604020202020204" pitchFamily="34" charset="0"/>
              </a:rPr>
              <a:t>Status:</a:t>
            </a:r>
            <a:r>
              <a:rPr lang="en-US" altLang="en-US" dirty="0">
                <a:latin typeface="Arial" panose="020B0604020202020204" pitchFamily="34" charset="0"/>
              </a:rPr>
              <a:t> System is calibrated and ready for large-scale field deployment.</a:t>
            </a:r>
          </a:p>
        </p:txBody>
      </p:sp>
    </p:spTree>
    <p:extLst>
      <p:ext uri="{BB962C8B-B14F-4D97-AF65-F5344CB8AC3E}">
        <p14:creationId xmlns:p14="http://schemas.microsoft.com/office/powerpoint/2010/main" val="483240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9F7E-6668-5F23-E522-885084628D95}"/>
              </a:ext>
            </a:extLst>
          </p:cNvPr>
          <p:cNvSpPr>
            <a:spLocks noGrp="1"/>
          </p:cNvSpPr>
          <p:nvPr>
            <p:ph type="title"/>
          </p:nvPr>
        </p:nvSpPr>
        <p:spPr>
          <a:xfrm>
            <a:off x="1141412" y="911126"/>
            <a:ext cx="9905998" cy="1478570"/>
          </a:xfrm>
        </p:spPr>
        <p:txBody>
          <a:bodyPr/>
          <a:lstStyle/>
          <a:p>
            <a:r>
              <a:rPr lang="en-IN" dirty="0">
                <a:latin typeface="Arial" panose="020B0604020202020204" pitchFamily="34" charset="0"/>
                <a:cs typeface="Arial" panose="020B0604020202020204" pitchFamily="34" charset="0"/>
              </a:rPr>
              <a:t>Data Collection Plan &amp; PROJECT PHASES</a:t>
            </a:r>
          </a:p>
        </p:txBody>
      </p:sp>
      <p:sp>
        <p:nvSpPr>
          <p:cNvPr id="4" name="Rectangle 1">
            <a:extLst>
              <a:ext uri="{FF2B5EF4-FFF2-40B4-BE49-F238E27FC236}">
                <a16:creationId xmlns:a16="http://schemas.microsoft.com/office/drawing/2014/main" id="{3FBF9F7A-25FF-D0F4-F976-C69039FDDBF0}"/>
              </a:ext>
            </a:extLst>
          </p:cNvPr>
          <p:cNvSpPr>
            <a:spLocks noGrp="1" noChangeArrowheads="1"/>
          </p:cNvSpPr>
          <p:nvPr>
            <p:ph idx="1"/>
          </p:nvPr>
        </p:nvSpPr>
        <p:spPr bwMode="auto">
          <a:xfrm>
            <a:off x="531813" y="2525146"/>
            <a:ext cx="11425628" cy="3498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000" b="1" dirty="0"/>
              <a:t>Phase 1: Initial Research &amp; Setup</a:t>
            </a:r>
            <a:r>
              <a:rPr lang="en-US" sz="2000" dirty="0"/>
              <a:t> </a:t>
            </a:r>
            <a:r>
              <a:rPr lang="en-US" sz="2000" i="1" dirty="0"/>
              <a:t>(Completed)</a:t>
            </a:r>
            <a:endParaRPr lang="en-US" sz="2000" dirty="0"/>
          </a:p>
          <a:p>
            <a:r>
              <a:rPr lang="en-US" sz="2000" b="1" dirty="0"/>
              <a:t>Phase 2: Field Data Collection</a:t>
            </a:r>
            <a:r>
              <a:rPr lang="en-US" sz="2000" dirty="0"/>
              <a:t> </a:t>
            </a:r>
            <a:r>
              <a:rPr lang="en-US" sz="2000" i="1" dirty="0"/>
              <a:t>(Completed)</a:t>
            </a:r>
            <a:endParaRPr lang="en-US" sz="2000" dirty="0"/>
          </a:p>
          <a:p>
            <a:pPr lvl="1"/>
            <a:r>
              <a:rPr lang="en-US" i="1" dirty="0"/>
              <a:t>Goal:</a:t>
            </a:r>
            <a:r>
              <a:rPr lang="en-US" dirty="0"/>
              <a:t> 500+ Data points.</a:t>
            </a:r>
          </a:p>
          <a:p>
            <a:pPr lvl="1"/>
            <a:r>
              <a:rPr lang="en-US" i="1" dirty="0"/>
              <a:t>Result:</a:t>
            </a:r>
            <a:r>
              <a:rPr lang="en-US" dirty="0"/>
              <a:t> Successfully exceeded the target by collecting </a:t>
            </a:r>
            <a:r>
              <a:rPr lang="en-US" b="1" dirty="0"/>
              <a:t>987</a:t>
            </a:r>
            <a:r>
              <a:rPr lang="en-US" dirty="0"/>
              <a:t> real-world data points at Prakasam Barrage.</a:t>
            </a:r>
          </a:p>
          <a:p>
            <a:r>
              <a:rPr lang="en-US" sz="2000" b="1" dirty="0"/>
              <a:t>Phase 3: Data Processing &amp; Model Training</a:t>
            </a:r>
            <a:r>
              <a:rPr lang="en-US" sz="2000" dirty="0"/>
              <a:t> </a:t>
            </a:r>
            <a:r>
              <a:rPr lang="en-US" sz="2000" i="1" dirty="0"/>
              <a:t>(Completed)</a:t>
            </a:r>
            <a:endParaRPr lang="en-US" sz="2000" dirty="0"/>
          </a:p>
          <a:p>
            <a:pPr lvl="1"/>
            <a:r>
              <a:rPr lang="en-US" dirty="0"/>
              <a:t>Data preprocessing and scaling finalized.</a:t>
            </a:r>
          </a:p>
          <a:p>
            <a:pPr lvl="1"/>
            <a:r>
              <a:rPr lang="en-US" dirty="0"/>
              <a:t>Quantum Regression Model successfully built, trained, and evaluated.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9410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B617A-E3B8-7C62-E35D-AAEA13ED8BA0}"/>
              </a:ext>
            </a:extLst>
          </p:cNvPr>
          <p:cNvSpPr>
            <a:spLocks noGrp="1"/>
          </p:cNvSpPr>
          <p:nvPr>
            <p:ph type="title"/>
          </p:nvPr>
        </p:nvSpPr>
        <p:spPr/>
        <p:txBody>
          <a:bodyPr/>
          <a:lstStyle/>
          <a:p>
            <a:r>
              <a:rPr lang="en-IN" dirty="0"/>
              <a:t>QUANTUM MODEL ARCHITECTURE</a:t>
            </a:r>
          </a:p>
        </p:txBody>
      </p:sp>
      <p:pic>
        <p:nvPicPr>
          <p:cNvPr id="9" name="Content Placeholder 8">
            <a:extLst>
              <a:ext uri="{FF2B5EF4-FFF2-40B4-BE49-F238E27FC236}">
                <a16:creationId xmlns:a16="http://schemas.microsoft.com/office/drawing/2014/main" id="{55B1F90B-8FD8-55E2-2D1D-35C468514119}"/>
              </a:ext>
            </a:extLst>
          </p:cNvPr>
          <p:cNvPicPr>
            <a:picLocks noGrp="1" noChangeAspect="1"/>
          </p:cNvPicPr>
          <p:nvPr>
            <p:ph idx="1"/>
          </p:nvPr>
        </p:nvPicPr>
        <p:blipFill>
          <a:blip r:embed="rId2"/>
          <a:stretch>
            <a:fillRect/>
          </a:stretch>
        </p:blipFill>
        <p:spPr>
          <a:xfrm>
            <a:off x="1295401" y="1894537"/>
            <a:ext cx="7376715" cy="4023663"/>
          </a:xfrm>
          <a:prstGeom prst="rect">
            <a:avLst/>
          </a:prstGeom>
        </p:spPr>
      </p:pic>
    </p:spTree>
    <p:extLst>
      <p:ext uri="{BB962C8B-B14F-4D97-AF65-F5344CB8AC3E}">
        <p14:creationId xmlns:p14="http://schemas.microsoft.com/office/powerpoint/2010/main" val="1989999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49442-F67D-A604-7229-69963D9E83A9}"/>
              </a:ext>
            </a:extLst>
          </p:cNvPr>
          <p:cNvSpPr>
            <a:spLocks noGrp="1"/>
          </p:cNvSpPr>
          <p:nvPr>
            <p:ph type="title"/>
          </p:nvPr>
        </p:nvSpPr>
        <p:spPr/>
        <p:txBody>
          <a:bodyPr/>
          <a:lstStyle/>
          <a:p>
            <a:r>
              <a:rPr lang="en-IN" dirty="0"/>
              <a:t>Quantum model architecture</a:t>
            </a:r>
          </a:p>
        </p:txBody>
      </p:sp>
      <p:sp>
        <p:nvSpPr>
          <p:cNvPr id="4" name="Rectangle 1">
            <a:extLst>
              <a:ext uri="{FF2B5EF4-FFF2-40B4-BE49-F238E27FC236}">
                <a16:creationId xmlns:a16="http://schemas.microsoft.com/office/drawing/2014/main" id="{25186D4B-F64B-93FB-64B7-FDD7753A6A58}"/>
              </a:ext>
            </a:extLst>
          </p:cNvPr>
          <p:cNvSpPr>
            <a:spLocks noGrp="1" noChangeArrowheads="1"/>
          </p:cNvSpPr>
          <p:nvPr>
            <p:ph idx="1"/>
          </p:nvPr>
        </p:nvSpPr>
        <p:spPr bwMode="auto">
          <a:xfrm>
            <a:off x="1237206" y="1628508"/>
            <a:ext cx="10118772"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Core Model:</a:t>
            </a:r>
            <a:r>
              <a:rPr kumimoji="0" lang="en-US" altLang="en-US" sz="2000" b="0" i="0" u="none" strike="noStrike" cap="none" normalizeH="0" baseline="0" dirty="0">
                <a:ln>
                  <a:noFill/>
                </a:ln>
                <a:solidFill>
                  <a:schemeClr val="tx1"/>
                </a:solidFill>
                <a:effectLst/>
                <a:latin typeface="Arial" panose="020B0604020202020204" pitchFamily="34" charset="0"/>
              </a:rPr>
              <a:t> Quantum Neural Network(QNN) or Variational Quantum Regressor (VQR)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Frameworks Used:</a:t>
            </a:r>
            <a:r>
              <a:rPr kumimoji="0" lang="en-US" altLang="en-US" sz="2000" b="0" i="0" u="none" strike="noStrike" cap="none" normalizeH="0" baseline="0" dirty="0">
                <a:ln>
                  <a:noFill/>
                </a:ln>
                <a:solidFill>
                  <a:schemeClr val="tx1"/>
                </a:solidFill>
                <a:effectLst/>
                <a:latin typeface="Arial" panose="020B0604020202020204" pitchFamily="34" charset="0"/>
              </a:rPr>
              <a:t> Built using </a:t>
            </a:r>
            <a:r>
              <a:rPr kumimoji="0" lang="en-US" altLang="en-US" sz="2000" b="0" i="0" u="none" strike="noStrike" cap="none" normalizeH="0" baseline="0" dirty="0" err="1">
                <a:ln>
                  <a:noFill/>
                </a:ln>
                <a:solidFill>
                  <a:schemeClr val="tx1"/>
                </a:solidFill>
                <a:effectLst/>
                <a:latin typeface="Arial" panose="020B0604020202020204" pitchFamily="34" charset="0"/>
              </a:rPr>
              <a:t>PyTorch</a:t>
            </a:r>
            <a:r>
              <a:rPr kumimoji="0" lang="en-US" altLang="en-US" sz="2000" b="0" i="0" u="none" strike="noStrike" cap="none" normalizeH="0" baseline="0" dirty="0">
                <a:ln>
                  <a:noFill/>
                </a:ln>
                <a:solidFill>
                  <a:schemeClr val="tx1"/>
                </a:solidFill>
                <a:effectLst/>
                <a:latin typeface="Arial" panose="020B0604020202020204" pitchFamily="34" charset="0"/>
              </a:rPr>
              <a:t> and simulated with PennyLane.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Circuit Design (The "Quantum Brain"):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Qubits:</a:t>
            </a:r>
            <a:r>
              <a:rPr kumimoji="0" lang="en-US" altLang="en-US" sz="1600" b="0" i="0" u="none" strike="noStrike" cap="none" normalizeH="0" baseline="0" dirty="0">
                <a:ln>
                  <a:noFill/>
                </a:ln>
                <a:solidFill>
                  <a:schemeClr val="tx1"/>
                </a:solidFill>
                <a:effectLst/>
                <a:latin typeface="Arial" panose="020B0604020202020204" pitchFamily="34" charset="0"/>
              </a:rPr>
              <a:t> 4 (Mapped directly to our 4 primary input features).</a:t>
            </a:r>
          </a:p>
          <a:p>
            <a:pPr marL="457200" lvl="1" indent="0" eaLnBrk="0" fontAlgn="base" hangingPunct="0">
              <a:lnSpc>
                <a:spcPct val="100000"/>
              </a:lnSpc>
              <a:spcBef>
                <a:spcPct val="0"/>
              </a:spcBef>
              <a:spcAft>
                <a:spcPct val="0"/>
              </a:spcAft>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Circuit Depth:</a:t>
            </a:r>
            <a:r>
              <a:rPr kumimoji="0" lang="en-US" altLang="en-US" sz="1600" b="0" i="0" u="none" strike="noStrike" cap="none" normalizeH="0" baseline="0" dirty="0">
                <a:ln>
                  <a:noFill/>
                </a:ln>
                <a:solidFill>
                  <a:schemeClr val="tx1"/>
                </a:solidFill>
                <a:effectLst/>
                <a:latin typeface="Arial" panose="020B0604020202020204" pitchFamily="34" charset="0"/>
              </a:rPr>
              <a:t> 6 Layers.</a:t>
            </a:r>
          </a:p>
          <a:p>
            <a:pPr marL="457200" lvl="1" indent="0" eaLnBrk="0" fontAlgn="base" hangingPunct="0">
              <a:lnSpc>
                <a:spcPct val="100000"/>
              </a:lnSpc>
              <a:spcBef>
                <a:spcPct val="0"/>
              </a:spcBef>
              <a:spcAft>
                <a:spcPct val="0"/>
              </a:spcAft>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1" u="none" strike="noStrike" cap="none" normalizeH="0" baseline="0" dirty="0">
                <a:ln>
                  <a:noFill/>
                </a:ln>
                <a:solidFill>
                  <a:schemeClr val="tx1"/>
                </a:solidFill>
                <a:effectLst/>
                <a:latin typeface="Arial" panose="020B0604020202020204" pitchFamily="34" charset="0"/>
              </a:rPr>
              <a:t>Why 6 Layers?</a:t>
            </a:r>
            <a:r>
              <a:rPr kumimoji="0" lang="en-US" altLang="en-US" sz="2000" b="0" i="0" u="none" strike="noStrike" cap="none" normalizeH="0" baseline="0" dirty="0">
                <a:ln>
                  <a:noFill/>
                </a:ln>
                <a:solidFill>
                  <a:schemeClr val="tx1"/>
                </a:solidFill>
                <a:effectLst/>
                <a:latin typeface="Arial" panose="020B0604020202020204" pitchFamily="34" charset="0"/>
              </a:rPr>
              <a:t> This specific depth was chosen to significantly enhance the model's expressivity, allowing it to capture complex interactions between weather and distance without memorizing the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5039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EE4BA-6288-009D-730D-40A8107E2C04}"/>
              </a:ext>
            </a:extLst>
          </p:cNvPr>
          <p:cNvSpPr>
            <a:spLocks noGrp="1"/>
          </p:cNvSpPr>
          <p:nvPr>
            <p:ph type="title"/>
          </p:nvPr>
        </p:nvSpPr>
        <p:spPr/>
        <p:txBody>
          <a:bodyPr/>
          <a:lstStyle/>
          <a:p>
            <a:r>
              <a:rPr lang="en-IN" dirty="0"/>
              <a:t>Hyperparameter tuning and training setup</a:t>
            </a:r>
          </a:p>
        </p:txBody>
      </p:sp>
      <p:sp>
        <p:nvSpPr>
          <p:cNvPr id="4" name="Rectangle 1">
            <a:extLst>
              <a:ext uri="{FF2B5EF4-FFF2-40B4-BE49-F238E27FC236}">
                <a16:creationId xmlns:a16="http://schemas.microsoft.com/office/drawing/2014/main" id="{23372FFE-052F-E832-8A27-090AD8F76EE9}"/>
              </a:ext>
            </a:extLst>
          </p:cNvPr>
          <p:cNvSpPr>
            <a:spLocks noGrp="1" noChangeArrowheads="1"/>
          </p:cNvSpPr>
          <p:nvPr>
            <p:ph idx="1"/>
          </p:nvPr>
        </p:nvSpPr>
        <p:spPr bwMode="auto">
          <a:xfrm>
            <a:off x="1302279" y="1820090"/>
            <a:ext cx="883861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Optimizer:</a:t>
            </a:r>
            <a:r>
              <a:rPr kumimoji="0" lang="en-US" altLang="en-US" sz="1800" b="0" i="0" u="none" strike="noStrike" cap="none" normalizeH="0" baseline="0" dirty="0">
                <a:ln>
                  <a:noFill/>
                </a:ln>
                <a:solidFill>
                  <a:schemeClr val="tx1"/>
                </a:solidFill>
                <a:effectLst/>
                <a:latin typeface="Arial" panose="020B0604020202020204" pitchFamily="34" charset="0"/>
              </a:rPr>
              <a:t> Adam Optimizer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Initial Learning Rate:</a:t>
            </a:r>
            <a:r>
              <a:rPr kumimoji="0" lang="en-US" altLang="en-US" sz="1800" b="0" i="0" u="none" strike="noStrike" cap="none" normalizeH="0" baseline="0" dirty="0">
                <a:ln>
                  <a:noFill/>
                </a:ln>
                <a:solidFill>
                  <a:schemeClr val="tx1"/>
                </a:solidFill>
                <a:effectLst/>
                <a:latin typeface="Arial" panose="020B0604020202020204" pitchFamily="34" charset="0"/>
              </a:rPr>
              <a:t> 0.02</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Learning Rate Scheduler:</a:t>
            </a:r>
            <a:r>
              <a:rPr kumimoji="0" lang="en-US" altLang="en-US" sz="1800" b="0" i="0" u="none" strike="noStrike" cap="none" normalizeH="0" baseline="0" dirty="0">
                <a:ln>
                  <a:noFill/>
                </a:ln>
                <a:solidFill>
                  <a:schemeClr val="tx1"/>
                </a:solidFill>
                <a:effectLst/>
                <a:latin typeface="Arial" panose="020B0604020202020204" pitchFamily="34" charset="0"/>
              </a:rPr>
              <a:t> StepLR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Function:</a:t>
            </a:r>
            <a:r>
              <a:rPr kumimoji="0" lang="en-US" altLang="en-US" sz="1800" b="0" i="0" u="none" strike="noStrike" cap="none" normalizeH="0" baseline="0" dirty="0">
                <a:ln>
                  <a:noFill/>
                </a:ln>
                <a:solidFill>
                  <a:schemeClr val="tx1"/>
                </a:solidFill>
                <a:effectLst/>
                <a:latin typeface="Arial" panose="020B0604020202020204" pitchFamily="34" charset="0"/>
              </a:rPr>
              <a:t> Dynamically cuts the learning rate by 50% every 50 epochs. This allows the model to learn rapidly at the beginning, and use microscopic fine-tuning steps at the very end.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Training Loop Configuration: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Total Epochs:</a:t>
            </a:r>
            <a:r>
              <a:rPr kumimoji="0" lang="en-US" altLang="en-US" sz="1800" b="0" i="0" u="none" strike="noStrike" cap="none" normalizeH="0" baseline="0" dirty="0">
                <a:ln>
                  <a:noFill/>
                </a:ln>
                <a:solidFill>
                  <a:schemeClr val="tx1"/>
                </a:solidFill>
                <a:effectLst/>
                <a:latin typeface="Arial" panose="020B0604020202020204" pitchFamily="34" charset="0"/>
              </a:rPr>
              <a:t> 250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Batch Size:</a:t>
            </a:r>
            <a:r>
              <a:rPr kumimoji="0" lang="en-US" altLang="en-US" sz="1800" b="0" i="0" u="none" strike="noStrike" cap="none" normalizeH="0" baseline="0" dirty="0">
                <a:ln>
                  <a:noFill/>
                </a:ln>
                <a:solidFill>
                  <a:schemeClr val="tx1"/>
                </a:solidFill>
                <a:effectLst/>
                <a:latin typeface="Arial" panose="020B0604020202020204" pitchFamily="34" charset="0"/>
              </a:rPr>
              <a:t> 16 (A smaller batch size provides frequent weight updates, helping the quantum model escape shallow error traps).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7978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889FA-B859-1938-4ED3-71FCD98CE80C}"/>
              </a:ext>
            </a:extLst>
          </p:cNvPr>
          <p:cNvSpPr>
            <a:spLocks noGrp="1"/>
          </p:cNvSpPr>
          <p:nvPr>
            <p:ph type="title"/>
          </p:nvPr>
        </p:nvSpPr>
        <p:spPr/>
        <p:txBody>
          <a:bodyPr/>
          <a:lstStyle/>
          <a:p>
            <a:r>
              <a:rPr lang="en-IN" dirty="0"/>
              <a:t>Final System Validation &amp; Results</a:t>
            </a:r>
          </a:p>
        </p:txBody>
      </p:sp>
      <p:pic>
        <p:nvPicPr>
          <p:cNvPr id="5" name="Content Placeholder 4">
            <a:extLst>
              <a:ext uri="{FF2B5EF4-FFF2-40B4-BE49-F238E27FC236}">
                <a16:creationId xmlns:a16="http://schemas.microsoft.com/office/drawing/2014/main" id="{FB286D4E-57B2-BF55-0DE8-4CC5E3967B28}"/>
              </a:ext>
            </a:extLst>
          </p:cNvPr>
          <p:cNvPicPr>
            <a:picLocks noGrp="1" noChangeAspect="1"/>
          </p:cNvPicPr>
          <p:nvPr>
            <p:ph idx="1"/>
          </p:nvPr>
        </p:nvPicPr>
        <p:blipFill>
          <a:blip r:embed="rId2"/>
          <a:stretch>
            <a:fillRect/>
          </a:stretch>
        </p:blipFill>
        <p:spPr>
          <a:xfrm>
            <a:off x="901700" y="2506133"/>
            <a:ext cx="4669367" cy="2255089"/>
          </a:xfrm>
          <a:prstGeom prst="rect">
            <a:avLst/>
          </a:prstGeom>
        </p:spPr>
      </p:pic>
      <p:pic>
        <p:nvPicPr>
          <p:cNvPr id="7" name="Picture 6">
            <a:extLst>
              <a:ext uri="{FF2B5EF4-FFF2-40B4-BE49-F238E27FC236}">
                <a16:creationId xmlns:a16="http://schemas.microsoft.com/office/drawing/2014/main" id="{7079BA42-86FE-DC55-5F8E-BF67FB7CAFB7}"/>
              </a:ext>
            </a:extLst>
          </p:cNvPr>
          <p:cNvPicPr>
            <a:picLocks noChangeAspect="1"/>
          </p:cNvPicPr>
          <p:nvPr/>
        </p:nvPicPr>
        <p:blipFill>
          <a:blip r:embed="rId3"/>
          <a:stretch>
            <a:fillRect/>
          </a:stretch>
        </p:blipFill>
        <p:spPr>
          <a:xfrm>
            <a:off x="5833533" y="2286374"/>
            <a:ext cx="4912339" cy="2694605"/>
          </a:xfrm>
          <a:prstGeom prst="rect">
            <a:avLst/>
          </a:prstGeom>
        </p:spPr>
      </p:pic>
    </p:spTree>
    <p:extLst>
      <p:ext uri="{BB962C8B-B14F-4D97-AF65-F5344CB8AC3E}">
        <p14:creationId xmlns:p14="http://schemas.microsoft.com/office/powerpoint/2010/main" val="24397829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{E34CEF4B-B76E-4B27-9396-72D4D412B3A9}TF6d5feb1e-e145-43f1-b745-cb4b54c5ee975d365c52-ce22229b0e48</Template>
  <TotalTime>199</TotalTime>
  <Words>928</Words>
  <Application>Microsoft Office PowerPoint</Application>
  <PresentationFormat>Widescreen</PresentationFormat>
  <Paragraphs>105</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Tw Cen MT</vt:lpstr>
      <vt:lpstr>Circuit</vt:lpstr>
      <vt:lpstr>Quantum Machine Learning Approach for LoRa Path Loss Prediction</vt:lpstr>
      <vt:lpstr>Objectives</vt:lpstr>
      <vt:lpstr>Knowledge Gained </vt:lpstr>
      <vt:lpstr>System Architecture (Hardware Setup)</vt:lpstr>
      <vt:lpstr>Smart Data Collection Framework</vt:lpstr>
      <vt:lpstr>Dataset Structure</vt:lpstr>
      <vt:lpstr>FINALIZED DATASET STRUCTURE</vt:lpstr>
      <vt:lpstr>System Validation (Proof of Concept)</vt:lpstr>
      <vt:lpstr>PowerPoint Presentation</vt:lpstr>
      <vt:lpstr>Data Collection Plan &amp; PROJECT PHASES</vt:lpstr>
      <vt:lpstr>QUANTUM MODEL ARCHITECTURE</vt:lpstr>
      <vt:lpstr>Quantum model architecture</vt:lpstr>
      <vt:lpstr>Hyperparameter tuning and training setup</vt:lpstr>
      <vt:lpstr>Final System Validation &amp;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Garaga Venkat Kalyan Ram</dc:creator>
  <cp:lastModifiedBy>Bhavitha Gorantla</cp:lastModifiedBy>
  <cp:revision>3</cp:revision>
  <dcterms:created xsi:type="dcterms:W3CDTF">2026-02-10T11:03:24Z</dcterms:created>
  <dcterms:modified xsi:type="dcterms:W3CDTF">2026-03-31T11:26:34Z</dcterms:modified>
</cp:coreProperties>
</file>